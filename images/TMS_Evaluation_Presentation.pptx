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5"/>
    <p:sldMasterId id="214748370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y="5143500" cx="9144000"/>
  <p:notesSz cx="6858000" cy="9144000"/>
  <p:embeddedFontLst>
    <p:embeddedFont>
      <p:font typeface="Inter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594F23-F117-4900-9D41-EE2532FB12A9}">
  <a:tblStyle styleId="{94594F23-F117-4900-9D41-EE2532FB12A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font" Target="fonts/Inter-regular.fntdata"/><Relationship Id="rId16" Type="http://schemas.openxmlformats.org/officeDocument/2006/relationships/slide" Target="slides/slide9.xml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e95920a1e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3e95920a1e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e95920a1eb_0_15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e95920a1eb_0_15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95920a1eb_0_1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e95920a1eb_0_1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e95920a1eb_0_26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3e95920a1eb_0_2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e95920a1eb_0_27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e95920a1eb_0_27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e95920a1eb_0_26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3e95920a1eb_0_26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e95920a1eb_0_27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e95920a1eb_0_27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e95920a1eb_0_2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e95920a1eb_0_2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e95920a1eb_0_2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e95920a1eb_0_2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1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2" name="Google Shape;72;p1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6" name="Google Shape;76;p17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8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8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8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9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9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98" name="Google Shape;98;p20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" name="Google Shape;100;p2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21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22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22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4" name="Google Shape;114;p22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22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6" name="Google Shape;116;p22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8" name="Google Shape;118;p22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22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4" name="Google Shape;124;p2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23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23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7" name="Google Shape;127;p23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4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3" name="Google Shape;133;p24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24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37" name="Google Shape;137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5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25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25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1" name="Google Shape;141;p25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5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6" name="Google Shape;146;p26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26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48" name="Google Shape;148;p2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6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6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7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4" name="Google Shape;154;p2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2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27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58" name="Google Shape;158;p27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0" name="Google Shape;160;p27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27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27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4" name="Google Shape;164;p27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8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7" name="Google Shape;167;p28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8" name="Google Shape;168;p28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2" name="Google Shape;172;p28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8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4" name="Google Shape;174;p28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8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28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7" name="Google Shape;177;p28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8" name="Google Shape;178;p28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1" name="Google Shape;181;p29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2" name="Google Shape;182;p29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3" name="Google Shape;183;p29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29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5" name="Google Shape;185;p2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6" name="Google Shape;186;p29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9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9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9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0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3" name="Google Shape;193;p3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6" name="Google Shape;196;p30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97" name="Google Shape;197;p30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0" name="Google Shape;200;p31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1" name="Google Shape;201;p31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02" name="Google Shape;202;p31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203" name="Google Shape;203;p31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31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31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31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7" name="Google Shape;207;p31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8" name="Google Shape;208;p3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3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5" name="Google Shape;215;p3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6" name="Google Shape;216;p32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7" name="Google Shape;217;p32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8" name="Google Shape;218;p32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32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0" name="Google Shape;220;p32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33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33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5" name="Google Shape;225;p33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6" name="Google Shape;226;p33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33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3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33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33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1" name="Google Shape;231;p33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2" name="Google Shape;232;p33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3" name="Google Shape;233;p33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4" name="Google Shape;234;p33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5" name="Google Shape;235;p33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6" name="Google Shape;236;p33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7" name="Google Shape;237;p33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8" name="Google Shape;238;p33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34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2" name="Google Shape;242;p34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3" name="Google Shape;243;p34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4" name="Google Shape;244;p34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5" name="Google Shape;245;p34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34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47" name="Google Shape;247;p34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8" name="Google Shape;248;p34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49" name="Google Shape;249;p34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34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1" name="Google Shape;251;p34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2" name="Google Shape;252;p34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34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34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55" name="Google Shape;255;p34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56" name="Google Shape;256;p3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4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8" name="Google Shape;258;p34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34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2" name="Google Shape;262;p35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3" name="Google Shape;263;p35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4" name="Google Shape;264;p35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5" name="Google Shape;265;p35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6" name="Google Shape;266;p35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7" name="Google Shape;267;p35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68" name="Google Shape;268;p35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69" name="Google Shape;269;p35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0" name="Google Shape;270;p35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1" name="Google Shape;271;p35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72" name="Google Shape;272;p35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73" name="Google Shape;273;p3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4" name="Google Shape;274;p35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75" name="Google Shape;275;p35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6" name="Google Shape;276;p35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7" name="Google Shape;277;p35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8" name="Google Shape;278;p35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35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35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81" name="Google Shape;281;p35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35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6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36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36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36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8" name="Google Shape;288;p36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89" name="Google Shape;289;p3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36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36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2" name="Google Shape;292;p3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36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4" name="Google Shape;294;p36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7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97" name="Google Shape;297;p37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98" name="Google Shape;298;p3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9" name="Google Shape;299;p3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7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4" name="Google Shape;304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8" name="Google Shape;318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3" name="Google Shape;323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4" name="Google Shape;324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9" name="Google Shape;329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4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4" name="Google Shape;334;p4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5" name="Google Shape;335;p4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6" name="Google Shape;336;p4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7" name="Google Shape;337;p4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38" name="Google Shape;338;p4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5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2" name="Google Shape;342;p5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5" name="Google Shape;345;p5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6" name="Google Shape;346;p5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7" name="Google Shape;347;p5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48" name="Google Shape;348;p5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1" name="Google Shape;351;p5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2" name="Google Shape;352;p5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53" name="Google Shape;353;p5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4" name="Google Shape;354;p5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5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5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59" name="Google Shape;359;p5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0" name="Google Shape;360;p5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1" name="Google Shape;361;p5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5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63" name="Google Shape;363;p5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5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5" name="Google Shape;365;p5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6" name="Google Shape;366;p5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9" name="Google Shape;369;p5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5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5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6" name="Google Shape;376;p5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77" name="Google Shape;377;p5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5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1" name="Google Shape;381;p5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2" name="Google Shape;382;p5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3" name="Google Shape;383;p5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84" name="Google Shape;384;p5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5" name="Google Shape;38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5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7" name="Google Shape;387;p5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88" name="Google Shape;388;p5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5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5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5" name="Google Shape;395;p5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5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5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98" name="Google Shape;398;p5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5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5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5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7" name="Google Shape;57;p13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59"/>
          <p:cNvSpPr txBox="1"/>
          <p:nvPr>
            <p:ph type="title"/>
          </p:nvPr>
        </p:nvSpPr>
        <p:spPr>
          <a:xfrm>
            <a:off x="284850" y="2007450"/>
            <a:ext cx="7198800" cy="1910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5000"/>
              <a:t>Selecting a Translation Management System for DalcomSoft</a:t>
            </a:r>
            <a:endParaRPr b="1" sz="5000"/>
          </a:p>
          <a:p>
            <a:pPr indent="0" lvl="0" marL="0" rtl="0" algn="l">
              <a:lnSpc>
                <a:spcPct val="80000"/>
              </a:lnSpc>
              <a:spcBef>
                <a:spcPts val="1800"/>
              </a:spcBef>
              <a:spcAft>
                <a:spcPts val="40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b="1" sz="5000"/>
          </a:p>
        </p:txBody>
      </p:sp>
      <p:cxnSp>
        <p:nvCxnSpPr>
          <p:cNvPr id="408" name="Google Shape;408;p59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59"/>
          <p:cNvSpPr txBox="1"/>
          <p:nvPr/>
        </p:nvSpPr>
        <p:spPr>
          <a:xfrm>
            <a:off x="284850" y="4007475"/>
            <a:ext cx="32310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Shivani Balachandar &amp; Michelle Lee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0"/>
          <p:cNvSpPr txBox="1"/>
          <p:nvPr>
            <p:ph type="title"/>
          </p:nvPr>
        </p:nvSpPr>
        <p:spPr>
          <a:xfrm>
            <a:off x="283850" y="285900"/>
            <a:ext cx="85731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DalcomSoft’s Localization Challenges</a:t>
            </a:r>
            <a:endParaRPr b="1"/>
          </a:p>
        </p:txBody>
      </p:sp>
      <p:sp>
        <p:nvSpPr>
          <p:cNvPr id="415" name="Google Shape;415;p60"/>
          <p:cNvSpPr txBox="1"/>
          <p:nvPr>
            <p:ph idx="4" type="body"/>
          </p:nvPr>
        </p:nvSpPr>
        <p:spPr>
          <a:xfrm>
            <a:off x="285450" y="752025"/>
            <a:ext cx="8573100" cy="160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Frequent live updates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Multiple languages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Fast turnaround requirements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UI + event localization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Need for automation &amp; AI workflows</a:t>
            </a:r>
            <a:endParaRPr sz="1600"/>
          </a:p>
        </p:txBody>
      </p:sp>
      <p:pic>
        <p:nvPicPr>
          <p:cNvPr id="416" name="Google Shape;416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6900" y="1182981"/>
            <a:ext cx="2732449" cy="745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7" name="Google Shape;417;p60"/>
          <p:cNvGrpSpPr/>
          <p:nvPr/>
        </p:nvGrpSpPr>
        <p:grpSpPr>
          <a:xfrm>
            <a:off x="1237262" y="2915454"/>
            <a:ext cx="6549635" cy="1768271"/>
            <a:chOff x="1007600" y="2766190"/>
            <a:chExt cx="7043375" cy="1901571"/>
          </a:xfrm>
        </p:grpSpPr>
        <p:pic>
          <p:nvPicPr>
            <p:cNvPr id="418" name="Google Shape;418;p6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671525" y="2766190"/>
              <a:ext cx="3379450" cy="190157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9" name="Google Shape;419;p6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07600" y="2766200"/>
              <a:ext cx="3379450" cy="190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1"/>
          <p:cNvSpPr txBox="1"/>
          <p:nvPr>
            <p:ph type="title"/>
          </p:nvPr>
        </p:nvSpPr>
        <p:spPr>
          <a:xfrm>
            <a:off x="284850" y="474875"/>
            <a:ext cx="61317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/>
              <a:t>Stakeholder Requirements</a:t>
            </a:r>
            <a:endParaRPr b="1" sz="3600"/>
          </a:p>
        </p:txBody>
      </p:sp>
      <p:graphicFrame>
        <p:nvGraphicFramePr>
          <p:cNvPr id="425" name="Google Shape;425;p61"/>
          <p:cNvGraphicFramePr/>
          <p:nvPr/>
        </p:nvGraphicFramePr>
        <p:xfrm>
          <a:off x="952500" y="1047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{94594F23-F117-4900-9D41-EE2532FB12A9}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Stakeholder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  <a:solidFill>
                      <a:srgbClr val="C37CE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Priority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solidFill>
                      <a:srgbClr val="B4A7D6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Project Management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Workflow Automation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Translation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Easy-to-use CAT tool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QA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Automated Checks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Engineering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API/Git Integration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Marketing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Fast releases/events following artist schedule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Executives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Scalability and ROI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Players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Inter"/>
                          <a:ea typeface="Inter"/>
                          <a:cs typeface="Inter"/>
                          <a:sym typeface="Inter"/>
                        </a:rPr>
                        <a:t>High Quality Localization/UI</a:t>
                      </a:r>
                      <a:endParaRPr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91425" marB="91425" marR="91425" marL="91425"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2"/>
          <p:cNvSpPr txBox="1"/>
          <p:nvPr>
            <p:ph type="title"/>
          </p:nvPr>
        </p:nvSpPr>
        <p:spPr>
          <a:xfrm>
            <a:off x="283850" y="285900"/>
            <a:ext cx="84135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Scorecard</a:t>
            </a:r>
            <a:endParaRPr b="1"/>
          </a:p>
        </p:txBody>
      </p:sp>
      <p:sp>
        <p:nvSpPr>
          <p:cNvPr id="431" name="Google Shape;431;p62"/>
          <p:cNvSpPr txBox="1"/>
          <p:nvPr>
            <p:ph idx="4" type="body"/>
          </p:nvPr>
        </p:nvSpPr>
        <p:spPr>
          <a:xfrm>
            <a:off x="423000" y="756900"/>
            <a:ext cx="84135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/>
              <a:t>Weighted Evaluation Criteria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432" name="Google Shape;432;p62" title="Monthly Budge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0650" y="1291112"/>
            <a:ext cx="4585851" cy="34393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3" name="Google Shape;433;p62"/>
          <p:cNvGraphicFramePr/>
          <p:nvPr/>
        </p:nvGraphicFramePr>
        <p:xfrm>
          <a:off x="423000" y="1227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{94594F23-F117-4900-9D41-EE2532FB12A9}</a:tableStyleId>
              </a:tblPr>
              <a:tblGrid>
                <a:gridCol w="2171850"/>
                <a:gridCol w="1492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Requirement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Weight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API/Git Integration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Workflow Automation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AI Features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Automated QA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15%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Collaboration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Context Support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Scalability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3"/>
          <p:cNvSpPr txBox="1"/>
          <p:nvPr>
            <p:ph type="title"/>
          </p:nvPr>
        </p:nvSpPr>
        <p:spPr>
          <a:xfrm>
            <a:off x="283850" y="285900"/>
            <a:ext cx="74382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Pilot Project</a:t>
            </a:r>
            <a:endParaRPr b="1"/>
          </a:p>
        </p:txBody>
      </p:sp>
      <p:sp>
        <p:nvSpPr>
          <p:cNvPr id="439" name="Google Shape;439;p63"/>
          <p:cNvSpPr txBox="1"/>
          <p:nvPr>
            <p:ph idx="1" type="body"/>
          </p:nvPr>
        </p:nvSpPr>
        <p:spPr>
          <a:xfrm>
            <a:off x="284850" y="756900"/>
            <a:ext cx="3000000" cy="683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b="1" lang="en" sz="1800"/>
              <a:t>2-Week Evaluation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F4CCC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  <p:grpSp>
        <p:nvGrpSpPr>
          <p:cNvPr id="440" name="Google Shape;440;p63"/>
          <p:cNvGrpSpPr/>
          <p:nvPr/>
        </p:nvGrpSpPr>
        <p:grpSpPr>
          <a:xfrm>
            <a:off x="1572000" y="1309625"/>
            <a:ext cx="6000000" cy="3472500"/>
            <a:chOff x="566800" y="1309625"/>
            <a:chExt cx="6000000" cy="3472500"/>
          </a:xfrm>
        </p:grpSpPr>
        <p:sp>
          <p:nvSpPr>
            <p:cNvPr id="441" name="Google Shape;441;p63"/>
            <p:cNvSpPr txBox="1"/>
            <p:nvPr/>
          </p:nvSpPr>
          <p:spPr>
            <a:xfrm>
              <a:off x="3566800" y="1309625"/>
              <a:ext cx="3000000" cy="189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highlight>
                    <a:srgbClr val="F4CCCC"/>
                  </a:highlight>
                  <a:latin typeface="Inter"/>
                  <a:ea typeface="Inter"/>
                  <a:cs typeface="Inter"/>
                  <a:sym typeface="Inter"/>
                </a:rPr>
                <a:t>Participants:</a:t>
              </a:r>
              <a:endParaRPr sz="1800">
                <a:solidFill>
                  <a:schemeClr val="lt1"/>
                </a:solidFill>
                <a:highlight>
                  <a:srgbClr val="F4CCCC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Translators</a:t>
              </a:r>
              <a:endPara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QA reviewer</a:t>
              </a:r>
              <a:endPara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PM</a:t>
              </a:r>
              <a:endPara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Developer</a:t>
              </a:r>
              <a:endParaRPr sz="1600"/>
            </a:p>
          </p:txBody>
        </p:sp>
        <p:sp>
          <p:nvSpPr>
            <p:cNvPr id="442" name="Google Shape;442;p63"/>
            <p:cNvSpPr txBox="1"/>
            <p:nvPr/>
          </p:nvSpPr>
          <p:spPr>
            <a:xfrm>
              <a:off x="566800" y="1309625"/>
              <a:ext cx="3000000" cy="347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Test Content:</a:t>
              </a:r>
              <a:endPara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UI strings</a:t>
              </a:r>
              <a:endPara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Event missions</a:t>
              </a:r>
              <a:endPara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Push notifications</a:t>
              </a:r>
              <a:endPara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lt1"/>
                  </a:solidFill>
                  <a:latin typeface="Inter"/>
                  <a:ea typeface="Inter"/>
                  <a:cs typeface="Inter"/>
                  <a:sym typeface="Inter"/>
                </a:rPr>
                <a:t>Store banners</a:t>
              </a:r>
              <a:endPara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lt1"/>
                  </a:solidFill>
                  <a:highlight>
                    <a:srgbClr val="F4CCCC"/>
                  </a:highlight>
                  <a:latin typeface="Inter"/>
                  <a:ea typeface="Inter"/>
                  <a:cs typeface="Inter"/>
                  <a:sym typeface="Inter"/>
                </a:rPr>
                <a:t>Languages:</a:t>
              </a:r>
              <a:endParaRPr sz="1800">
                <a:solidFill>
                  <a:schemeClr val="lt1"/>
                </a:solidFill>
                <a:highlight>
                  <a:srgbClr val="F4CCCC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lt1"/>
                  </a:solidFill>
                  <a:highlight>
                    <a:srgbClr val="F4CCCC"/>
                  </a:highlight>
                  <a:latin typeface="Inter"/>
                  <a:ea typeface="Inter"/>
                  <a:cs typeface="Inter"/>
                  <a:sym typeface="Inter"/>
                </a:rPr>
                <a:t>English</a:t>
              </a:r>
              <a:endParaRPr sz="1800">
                <a:solidFill>
                  <a:schemeClr val="lt1"/>
                </a:solidFill>
                <a:highlight>
                  <a:srgbClr val="F4CCCC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lt1"/>
                  </a:solidFill>
                  <a:highlight>
                    <a:srgbClr val="F4CCCC"/>
                  </a:highlight>
                  <a:latin typeface="Inter"/>
                  <a:ea typeface="Inter"/>
                  <a:cs typeface="Inter"/>
                  <a:sym typeface="Inter"/>
                </a:rPr>
                <a:t>Japanese</a:t>
              </a:r>
              <a:endParaRPr sz="1800">
                <a:solidFill>
                  <a:schemeClr val="lt1"/>
                </a:solidFill>
                <a:highlight>
                  <a:srgbClr val="F4CCCC"/>
                </a:highlight>
                <a:latin typeface="Inter"/>
                <a:ea typeface="Inter"/>
                <a:cs typeface="Inter"/>
                <a:sym typeface="Inter"/>
              </a:endParaRPr>
            </a:p>
            <a:p>
              <a:pPr indent="-3429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Inter"/>
                <a:buChar char="●"/>
              </a:pPr>
              <a:r>
                <a:rPr lang="en" sz="1800">
                  <a:solidFill>
                    <a:schemeClr val="lt1"/>
                  </a:solidFill>
                  <a:highlight>
                    <a:srgbClr val="F4CCCC"/>
                  </a:highlight>
                  <a:latin typeface="Inter"/>
                  <a:ea typeface="Inter"/>
                  <a:cs typeface="Inter"/>
                  <a:sym typeface="Inter"/>
                </a:rPr>
                <a:t>Simplified Chinese</a:t>
              </a:r>
              <a:endPara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43" name="Google Shape;443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14037" y="3233825"/>
            <a:ext cx="2887926" cy="1624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4"/>
          <p:cNvSpPr txBox="1"/>
          <p:nvPr>
            <p:ph type="title"/>
          </p:nvPr>
        </p:nvSpPr>
        <p:spPr>
          <a:xfrm>
            <a:off x="283850" y="285900"/>
            <a:ext cx="84135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Platform Comparison</a:t>
            </a:r>
            <a:endParaRPr b="1"/>
          </a:p>
        </p:txBody>
      </p:sp>
      <p:graphicFrame>
        <p:nvGraphicFramePr>
          <p:cNvPr id="449" name="Google Shape;449;p64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{94594F23-F117-4900-9D41-EE2532FB12A9}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Crowdin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Phrase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Strong game workflow support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Strong enterprise scalability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Excellent contextual tools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Advanced orchestration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Easy collaboration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Powerful automation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Faster onboarding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Higher complexity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450" name="Google Shape;450;p64"/>
          <p:cNvPicPr preferRelativeResize="0"/>
          <p:nvPr/>
        </p:nvPicPr>
        <p:blipFill rotWithShape="1">
          <a:blip r:embed="rId3">
            <a:alphaModFix/>
          </a:blip>
          <a:srcRect b="-4550" l="0" r="0" t="4550"/>
          <a:stretch/>
        </p:blipFill>
        <p:spPr>
          <a:xfrm>
            <a:off x="0" y="3399988"/>
            <a:ext cx="2764275" cy="276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6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4750" y="-319400"/>
            <a:ext cx="2382849" cy="158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65"/>
          <p:cNvSpPr txBox="1"/>
          <p:nvPr>
            <p:ph type="title"/>
          </p:nvPr>
        </p:nvSpPr>
        <p:spPr>
          <a:xfrm>
            <a:off x="283850" y="285900"/>
            <a:ext cx="74382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Final Decision</a:t>
            </a:r>
            <a:endParaRPr b="1"/>
          </a:p>
        </p:txBody>
      </p:sp>
      <p:sp>
        <p:nvSpPr>
          <p:cNvPr id="457" name="Google Shape;457;p65"/>
          <p:cNvSpPr txBox="1"/>
          <p:nvPr/>
        </p:nvSpPr>
        <p:spPr>
          <a:xfrm>
            <a:off x="1028475" y="1555575"/>
            <a:ext cx="34836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470</a:t>
            </a:r>
            <a:endParaRPr sz="10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8" name="Google Shape;458;p65"/>
          <p:cNvSpPr txBox="1"/>
          <p:nvPr/>
        </p:nvSpPr>
        <p:spPr>
          <a:xfrm>
            <a:off x="5161825" y="1555575"/>
            <a:ext cx="3483600" cy="6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rPr>
              <a:t>470</a:t>
            </a:r>
            <a:endParaRPr sz="10000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59" name="Google Shape;459;p65"/>
          <p:cNvSpPr txBox="1"/>
          <p:nvPr/>
        </p:nvSpPr>
        <p:spPr>
          <a:xfrm>
            <a:off x="687150" y="3250650"/>
            <a:ext cx="7557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CROWDIN: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✔ Better fit for live-service games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✔ Faster localization workflow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✔ Strong contextual tools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✔ Easier team collaboration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FINAL RECOMMENDATION: CROWDIN</a:t>
            </a:r>
            <a:endParaRPr b="1"/>
          </a:p>
        </p:txBody>
      </p:sp>
      <p:pic>
        <p:nvPicPr>
          <p:cNvPr id="460" name="Google Shape;460;p6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150" y="84100"/>
            <a:ext cx="30480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6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1825" y="1320363"/>
            <a:ext cx="2473150" cy="650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66"/>
          <p:cNvSpPr txBox="1"/>
          <p:nvPr>
            <p:ph type="title"/>
          </p:nvPr>
        </p:nvSpPr>
        <p:spPr>
          <a:xfrm>
            <a:off x="283850" y="285900"/>
            <a:ext cx="84135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Conclusion</a:t>
            </a:r>
            <a:endParaRPr b="1"/>
          </a:p>
        </p:txBody>
      </p:sp>
      <p:sp>
        <p:nvSpPr>
          <p:cNvPr id="467" name="Google Shape;467;p66"/>
          <p:cNvSpPr txBox="1"/>
          <p:nvPr>
            <p:ph idx="4" type="body"/>
          </p:nvPr>
        </p:nvSpPr>
        <p:spPr>
          <a:xfrm>
            <a:off x="283850" y="1001175"/>
            <a:ext cx="8413500" cy="20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Faster live-service workflows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Better collaboration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Strong AI readiness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Easier implementation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Built for continuous localization</a:t>
            </a:r>
            <a:endParaRPr sz="1800"/>
          </a:p>
        </p:txBody>
      </p:sp>
      <p:pic>
        <p:nvPicPr>
          <p:cNvPr id="468" name="Google Shape;468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3138" y="2737875"/>
            <a:ext cx="4380924" cy="229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CCCC"/>
        </a:solidFill>
      </p:bgPr>
    </p:bg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7"/>
          <p:cNvSpPr txBox="1"/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400">
                <a:solidFill>
                  <a:srgbClr val="000000"/>
                </a:solidFill>
              </a:rPr>
              <a:t>Thank You!</a:t>
            </a:r>
            <a:endParaRPr b="1" sz="5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